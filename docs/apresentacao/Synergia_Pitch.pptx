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Pessoas</c:v>
                </c:pt>
              </c:strCache>
            </c:strRef>
          </c:tx>
          <c:spPr>
            <a:solidFill>
              <a:srgbClr val="9b7df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9b7dfb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bbf24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200" b="1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200" b="1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200" b="1" u="none" strike="noStrik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Alunos FAG (2015)</c:v>
                </c:pt>
                <c:pt idx="1">
                  <c:v>Vestibular 2023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12000</c:v>
                </c:pt>
                <c:pt idx="1">
                  <c:v>4700</c:v>
                </c:pt>
              </c:numCache>
            </c:numRef>
          </c:val>
        </c:ser>
        <c:gapWidth val="60"/>
        <c:overlap val="0"/>
        <c:axId val="37565808"/>
        <c:axId val="78860728"/>
      </c:barChart>
      <c:catAx>
        <c:axId val="375658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cfc3f7"/>
                </a:solidFill>
                <a:uFillTx/>
                <a:latin typeface="Arial"/>
              </a:defRPr>
            </a:pPr>
          </a:p>
        </c:txPr>
        <c:crossAx val="78860728"/>
        <c:crosses val="autoZero"/>
        <c:auto val="1"/>
        <c:lblAlgn val="ctr"/>
        <c:lblOffset val="100"/>
        <c:noMultiLvlLbl val="0"/>
      </c:catAx>
      <c:valAx>
        <c:axId val="788607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cfc3f7"/>
                </a:solidFill>
                <a:uFillTx/>
                <a:latin typeface="Arial"/>
              </a:defRPr>
            </a:pPr>
          </a:p>
        </c:txPr>
        <c:crossAx val="37565808"/>
        <c:crossBetween val="between"/>
      </c:valAx>
      <c:spPr>
        <a:solidFill>
          <a:srgbClr val="1e1440"/>
        </a:solidFill>
        <a:ln w="0">
          <a:noFill/>
        </a:ln>
      </c:spPr>
    </c:plotArea>
    <c:plotVisOnly val="1"/>
    <c:dispBlanksAs val="span"/>
  </c:chart>
  <c:spPr>
    <a:solidFill>
      <a:srgbClr val="1e1440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BA411DA-D282-494A-9FD2-81448E2DF49C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ABERTURA (~40s). Apresente-se e diga o nome do projeto + a frase de efeito. Synergia = uma plataforma que conecta alunos de cursos diferentes para colaborarem em projetos. Este trabalho é apresentado como alternativa ao TCC.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DD5CB3-EC1D-4157-93EF-AFE6FB5697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CLIENTES (~25s). Foco principal: instituições de ensino superior e seus alunos e professores. Mencione que também serve para organizações menores que precisam gerir projetos.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743A4E-D4AF-43BA-9FD2-A3DE577EBC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PROBLEMA (~35s). A dor central: é difícil unir alunos de cursos diferentes. Conte o fluxo atual da FAG à direita: ideia -&gt; professor repassa no WhatsApp -&gt; mensagem se perde -&gt; ninguém sabe quem já tem grupo. É informal e ineficiente.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604670-6468-41E6-B9F9-B58E6245D4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DADO (~35s). Reforce com a pesquisa: 60% (10 de 17 entrevistados) tiveram dificuldade em formular projetos e teriam se beneficiado de ajuda de outros cursos. Dois motivos: (1) mensagens se perdem no meio dos avisos; (2) falta de visibilidade de quem já tem grupo.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3EDDF8-3B0C-45D6-B1FB-79213F5037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SOLUÇÃO (~30s) + PONTE PARA O DEMO. Apresente a plataforma: encontrar, conectar, colaborar. Cite login único, busca, filtros e comunicação integrada. AO FINAL, faça a transição: 'e o melhor é que isso já existe — deixa eu mostrar'. -&gt; Trocar para a APLICAÇÃO RODANDO.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5B446D-F676-4C14-8145-5DA4FF91AF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FUNCIONALIDADES (~20s, passar rápido). Use como resumo do que a banca acabou de ver no demo e no Figma. Não leia tudo: destaque 2 ou 3 (criação de projetos, mensagens, notificações/feed) e siga.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88E1FF-E529-4ADA-96D0-CBF15EB62C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PROPOSTA DE VALOR (~25s). O ganho vai além da ferramenta: interdisciplinaridade, habilidades socioemocionais (trabalho em equipe, comunicação) e experiências acadêmicas mais ricas.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27B66A-A72C-4422-958E-10214CF0CB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MERCADO (~30s). Mostre a escala: ~12 mil alunos na FAG (2015) e 4,7 mil candidatos no vestibular 2023 — e isso é só uma instituição. Some Cascavel inteira e a demanda é grande. Observação: dados da FAG; posso atualizar se houver números mais recentes.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51F86D-96B6-475C-BDE1-327D5DA2CF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TECNOLOGIA (~35s). Slide para a banca técnica. Front em TypeScript, back em Kotlin com REST/JWT, PostgreSQL + MongoDB, Cloudflare Stream para vídeos, Kubernetes + Prometheus para escalar e monitorar, segurança com criptografia. Mostra que a arquitetura foi pensada, não improvisada.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32B986-97E7-4C42-8310-5EE4A9CD62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MONETIZAÇÃO (~25s). É um projeto sem fins lucrativos, Open Source — pode ser adotado por qualquer instituição. O custo fica por conta de cada instituição (hospedagem, servidores). O foco é impacto, não receita.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84B49C-68B6-4BAC-82DE-93B8AE73BC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FECHO (~20s). Agradeça e abra para perguntas. Frase de encerramento: o Synergia mostra que colaboração entre cursos, com a ferramenta certa, transforma a experiência acadêmica. Obrigado — fico à disposição para as perguntas da banca.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0D9FE6-6BD3-44C3-AE2E-19632D0A6F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926080" y="-3474720"/>
            <a:ext cx="7314840" cy="7314840"/>
          </a:xfrm>
          <a:prstGeom prst="ellipse">
            <a:avLst/>
          </a:prstGeom>
          <a:solidFill>
            <a:srgbClr val="6d3bf5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985520" y="3017520"/>
            <a:ext cx="6857640" cy="6857640"/>
          </a:xfrm>
          <a:prstGeom prst="ellipse">
            <a:avLst/>
          </a:prstGeom>
          <a:solidFill>
            <a:srgbClr val="6d3bf5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 flipV="1">
            <a:off x="8767080" y="1229760"/>
            <a:ext cx="1156680" cy="63072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776440" y="1203480"/>
            <a:ext cx="1209240" cy="68328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9939240" y="546120"/>
            <a:ext cx="1314720" cy="73620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 flipV="1">
            <a:off x="9959040" y="1939320"/>
            <a:ext cx="1261800" cy="57852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 flipH="1">
            <a:off x="10026720" y="1913040"/>
            <a:ext cx="630720" cy="63108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 flipH="1">
            <a:off x="11763000" y="1019520"/>
            <a:ext cx="52560" cy="126180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 flipH="1" flipV="1">
            <a:off x="11105640" y="2885760"/>
            <a:ext cx="1840320" cy="5256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560" bIns="756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9115560" y="887760"/>
            <a:ext cx="578160" cy="131472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8568000" y="1426320"/>
            <a:ext cx="237240" cy="23724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9761400" y="831960"/>
            <a:ext cx="164160" cy="16416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9777240" y="2109960"/>
            <a:ext cx="237240" cy="23724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11075760" y="1568160"/>
            <a:ext cx="164160" cy="16416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10986480" y="2793600"/>
            <a:ext cx="237240" cy="23724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9182880" y="2777400"/>
            <a:ext cx="164160" cy="16416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822960" y="214884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0" b="1" u="none" spc="201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SYNERGIA</a:t>
            </a:r>
            <a:endParaRPr lang="pt-BR" sz="9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868680" y="3611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300" b="0" i="1" u="none" strike="noStrike">
                <a:solidFill>
                  <a:srgbClr val="fbbf24"/>
                </a:solidFill>
                <a:effectLst/>
                <a:uFillTx/>
                <a:latin typeface="Georgia"/>
                <a:ea typeface="Georgia"/>
              </a:rPr>
              <a:t>Conectando talentos, multiplicando ideias.</a:t>
            </a:r>
            <a:endParaRPr lang="pt-B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896040" y="425196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Plataforma de colaboração multidisciplinar para instituições de ensino superior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914400" y="5257800"/>
            <a:ext cx="1828800" cy="360"/>
          </a:xfrm>
          <a:prstGeom prst="line">
            <a:avLst/>
          </a:prstGeom>
          <a:ln w="254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914400" y="53949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Guilherme Harmatiuk Arantes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Fundador &amp; Desenvolvedor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8534160" y="61722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PITCH DECK · 2026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48640" y="292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6d3bf5"/>
                </a:solidFill>
                <a:effectLst/>
                <a:uFillTx/>
                <a:latin typeface="Arial"/>
                <a:ea typeface="Arial"/>
              </a:rPr>
              <a:t>SYNERGIA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11277360" y="6309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548640" y="8686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PARA QUEM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548640" y="120708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e1440"/>
                </a:solidFill>
                <a:effectLst/>
                <a:uFillTx/>
                <a:latin typeface="Georgia"/>
                <a:ea typeface="Georgia"/>
              </a:rPr>
              <a:t>Nossos clientes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4"/>
          <p:cNvSpPr/>
          <p:nvPr/>
        </p:nvSpPr>
        <p:spPr>
          <a:xfrm>
            <a:off x="548640" y="2514600"/>
            <a:ext cx="3520080" cy="3108600"/>
          </a:xfrm>
          <a:prstGeom prst="roundRect">
            <a:avLst>
              <a:gd name="adj" fmla="val 3529"/>
            </a:avLst>
          </a:prstGeom>
          <a:solidFill>
            <a:srgbClr val="f4f1f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5"/>
          <p:cNvSpPr/>
          <p:nvPr/>
        </p:nvSpPr>
        <p:spPr>
          <a:xfrm>
            <a:off x="960120" y="2926080"/>
            <a:ext cx="914040" cy="914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0" descr="preencoded.png"/>
          <p:cNvPicPr/>
          <p:nvPr/>
        </p:nvPicPr>
        <p:blipFill>
          <a:blip r:embed="rId1"/>
          <a:stretch/>
        </p:blipFill>
        <p:spPr>
          <a:xfrm>
            <a:off x="1207080" y="317304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6"/>
          <p:cNvSpPr/>
          <p:nvPr/>
        </p:nvSpPr>
        <p:spPr>
          <a:xfrm>
            <a:off x="932760" y="4069080"/>
            <a:ext cx="2751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Instituições de ensino superior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932760" y="4800600"/>
            <a:ext cx="2751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Faculdades e universidades que buscam estimular a colaboração e a inovação entre seus cursos.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4325040" y="2514600"/>
            <a:ext cx="3520080" cy="3108600"/>
          </a:xfrm>
          <a:prstGeom prst="roundRect">
            <a:avLst>
              <a:gd name="adj" fmla="val 3529"/>
            </a:avLst>
          </a:prstGeom>
          <a:solidFill>
            <a:srgbClr val="f4f1f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4736520" y="2926080"/>
            <a:ext cx="914040" cy="914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1" descr="preencoded.png"/>
          <p:cNvPicPr/>
          <p:nvPr/>
        </p:nvPicPr>
        <p:blipFill>
          <a:blip r:embed="rId2"/>
          <a:stretch/>
        </p:blipFill>
        <p:spPr>
          <a:xfrm>
            <a:off x="4983480" y="317304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0"/>
          <p:cNvSpPr/>
          <p:nvPr/>
        </p:nvSpPr>
        <p:spPr>
          <a:xfrm>
            <a:off x="4709160" y="4069080"/>
            <a:ext cx="2751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Alunos e docentes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4709160" y="4800600"/>
            <a:ext cx="2751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Estudantes de diferentes áreas e professores que organizam e acompanham projetos e eventos.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8101440" y="2514600"/>
            <a:ext cx="3520080" cy="3108600"/>
          </a:xfrm>
          <a:prstGeom prst="roundRect">
            <a:avLst>
              <a:gd name="adj" fmla="val 3529"/>
            </a:avLst>
          </a:prstGeom>
          <a:solidFill>
            <a:srgbClr val="f4f1f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8512920" y="2926080"/>
            <a:ext cx="914040" cy="914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2" descr="preencoded.png"/>
          <p:cNvPicPr/>
          <p:nvPr/>
        </p:nvPicPr>
        <p:blipFill>
          <a:blip r:embed="rId3"/>
          <a:stretch/>
        </p:blipFill>
        <p:spPr>
          <a:xfrm>
            <a:off x="8759880" y="317304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14"/>
          <p:cNvSpPr/>
          <p:nvPr/>
        </p:nvSpPr>
        <p:spPr>
          <a:xfrm>
            <a:off x="8485560" y="4069080"/>
            <a:ext cx="2751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Organizações de menor escala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8485560" y="4800600"/>
            <a:ext cx="2751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Empresas e coletivos que precisam de uma ferramenta simples de gestão de projetos.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48640" y="292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6d3bf5"/>
                </a:solidFill>
                <a:effectLst/>
                <a:uFillTx/>
                <a:latin typeface="Arial"/>
                <a:ea typeface="Arial"/>
              </a:rPr>
              <a:t>SYNERGIA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11277360" y="6309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548640" y="8686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O DESAFIO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548640" y="120708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e1440"/>
                </a:solidFill>
                <a:effectLst/>
                <a:uFillTx/>
                <a:latin typeface="Georgia"/>
                <a:ea typeface="Georgia"/>
              </a:rPr>
              <a:t>Qual é o problema?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548640" y="2240280"/>
            <a:ext cx="5851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241a3d"/>
                </a:solidFill>
                <a:effectLst/>
                <a:uFillTx/>
                <a:latin typeface="Arial"/>
                <a:ea typeface="Arial"/>
              </a:rPr>
              <a:t>Unir alunos de </a:t>
            </a:r>
            <a:r>
              <a:rPr lang="en-US" sz="1700" b="1" u="none" strike="noStrike">
                <a:solidFill>
                  <a:srgbClr val="6d3bf5"/>
                </a:solidFill>
                <a:effectLst/>
                <a:uFillTx/>
                <a:latin typeface="Arial"/>
                <a:ea typeface="Arial"/>
              </a:rPr>
              <a:t>diferentes cursos</a:t>
            </a:r>
            <a:r>
              <a:rPr lang="en-US" sz="1700" b="0" u="none" strike="noStrike">
                <a:solidFill>
                  <a:srgbClr val="241a3d"/>
                </a:solidFill>
                <a:effectLst/>
                <a:uFillTx/>
                <a:latin typeface="Arial"/>
                <a:ea typeface="Arial"/>
              </a:rPr>
              <a:t> para colaborarem em projetos multidisciplinares — para eventos como Summit, Startup Garage e ECCI — ainda é difícil e depende de canais improvisados.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548640" y="3749040"/>
            <a:ext cx="5851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Hoje, na FAG, isso acontece pelo WhatsApp: os professores recebem propostas de um curso e as repassam manualmente para os grupos de outros cursos.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6858000" y="2194560"/>
            <a:ext cx="4754520" cy="3977280"/>
          </a:xfrm>
          <a:prstGeom prst="roundRect">
            <a:avLst>
              <a:gd name="adj" fmla="val 3218"/>
            </a:avLst>
          </a:prstGeom>
          <a:solidFill>
            <a:srgbClr val="1e1440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7315200" y="24688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201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O FLUXO ATUAL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7315200" y="3063240"/>
            <a:ext cx="511560" cy="511560"/>
          </a:xfrm>
          <a:prstGeom prst="ellipse">
            <a:avLst/>
          </a:prstGeom>
          <a:solidFill>
            <a:srgbClr val="6d3b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7434000" y="31820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9"/>
          <p:cNvSpPr/>
          <p:nvPr/>
        </p:nvSpPr>
        <p:spPr>
          <a:xfrm>
            <a:off x="8001000" y="3026520"/>
            <a:ext cx="31543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Aluno tem uma ideia de projeto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7571160" y="3575160"/>
            <a:ext cx="360" cy="246960"/>
          </a:xfrm>
          <a:prstGeom prst="line">
            <a:avLst/>
          </a:prstGeom>
          <a:ln w="19050">
            <a:solidFill>
              <a:srgbClr val="9b7df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1"/>
          <p:cNvSpPr/>
          <p:nvPr/>
        </p:nvSpPr>
        <p:spPr>
          <a:xfrm>
            <a:off x="7315200" y="3822120"/>
            <a:ext cx="511560" cy="511560"/>
          </a:xfrm>
          <a:prstGeom prst="ellipse">
            <a:avLst/>
          </a:prstGeom>
          <a:solidFill>
            <a:srgbClr val="6d3b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1" descr="preencoded.png"/>
          <p:cNvPicPr/>
          <p:nvPr/>
        </p:nvPicPr>
        <p:blipFill>
          <a:blip r:embed="rId2"/>
          <a:stretch/>
        </p:blipFill>
        <p:spPr>
          <a:xfrm>
            <a:off x="7434000" y="39409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12"/>
          <p:cNvSpPr/>
          <p:nvPr/>
        </p:nvSpPr>
        <p:spPr>
          <a:xfrm>
            <a:off x="8001000" y="3785760"/>
            <a:ext cx="31543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Professor repassa no WhatsApp do curso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7571160" y="4334040"/>
            <a:ext cx="360" cy="246960"/>
          </a:xfrm>
          <a:prstGeom prst="line">
            <a:avLst/>
          </a:prstGeom>
          <a:ln w="19050">
            <a:solidFill>
              <a:srgbClr val="9b7df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7315200" y="4581000"/>
            <a:ext cx="511560" cy="511560"/>
          </a:xfrm>
          <a:prstGeom prst="ellipse">
            <a:avLst/>
          </a:prstGeom>
          <a:solidFill>
            <a:srgbClr val="6d3b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2" descr="preencoded.png"/>
          <p:cNvPicPr/>
          <p:nvPr/>
        </p:nvPicPr>
        <p:blipFill>
          <a:blip r:embed="rId3"/>
          <a:stretch/>
        </p:blipFill>
        <p:spPr>
          <a:xfrm>
            <a:off x="7434000" y="4700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15"/>
          <p:cNvSpPr/>
          <p:nvPr/>
        </p:nvSpPr>
        <p:spPr>
          <a:xfrm>
            <a:off x="8001000" y="4544640"/>
            <a:ext cx="31543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Mensagem se perde entre os avisos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7571160" y="5092920"/>
            <a:ext cx="360" cy="246960"/>
          </a:xfrm>
          <a:prstGeom prst="line">
            <a:avLst/>
          </a:prstGeom>
          <a:ln w="19050">
            <a:solidFill>
              <a:srgbClr val="9b7df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7315200" y="5340240"/>
            <a:ext cx="511560" cy="511560"/>
          </a:xfrm>
          <a:prstGeom prst="ellipse">
            <a:avLst/>
          </a:prstGeom>
          <a:solidFill>
            <a:srgbClr val="6d3b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3" descr="preencoded.png"/>
          <p:cNvPicPr/>
          <p:nvPr/>
        </p:nvPicPr>
        <p:blipFill>
          <a:blip r:embed="rId4"/>
          <a:stretch/>
        </p:blipFill>
        <p:spPr>
          <a:xfrm>
            <a:off x="7434000" y="54590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8"/>
          <p:cNvSpPr/>
          <p:nvPr/>
        </p:nvSpPr>
        <p:spPr>
          <a:xfrm>
            <a:off x="8001000" y="5303520"/>
            <a:ext cx="31543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Ninguém sabe quem já encontrou grupo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8351280" y="-2377440"/>
            <a:ext cx="5943240" cy="5943240"/>
          </a:xfrm>
          <a:prstGeom prst="ellipse">
            <a:avLst/>
          </a:prstGeom>
          <a:solidFill>
            <a:srgbClr val="6d3bf5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48640" y="292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SYNERGIA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11277360" y="6309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548640" y="8686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ENTRANDO EM DETALHES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548640" y="120708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Por que o modelo atual falha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548640" y="2423160"/>
            <a:ext cx="4160160" cy="3748680"/>
          </a:xfrm>
          <a:prstGeom prst="roundRect">
            <a:avLst>
              <a:gd name="adj" fmla="val 3415"/>
            </a:avLst>
          </a:prstGeom>
          <a:solidFill>
            <a:srgbClr val="6d3bf5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0" descr="preencoded.png"/>
          <p:cNvPicPr/>
          <p:nvPr/>
        </p:nvPicPr>
        <p:blipFill>
          <a:blip r:embed="rId1"/>
          <a:stretch/>
        </p:blipFill>
        <p:spPr>
          <a:xfrm>
            <a:off x="868680" y="2697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6"/>
          <p:cNvSpPr/>
          <p:nvPr/>
        </p:nvSpPr>
        <p:spPr>
          <a:xfrm>
            <a:off x="777240" y="3154680"/>
            <a:ext cx="3657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60%</a:t>
            </a:r>
            <a:endParaRPr lang="pt-BR" sz="10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868680" y="4572000"/>
            <a:ext cx="3520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dos alunos entrevistados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ebe4ff"/>
                </a:solidFill>
                <a:effectLst/>
                <a:uFillTx/>
                <a:latin typeface="Arial"/>
                <a:ea typeface="Arial"/>
              </a:rPr>
              <a:t>(10 de 17) relataram dificuldade em formular projetos para eventos como Summit e TCC — e acreditam que a ajuda de colegas de outros cursos teria feito diferença.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5029200" y="2423160"/>
            <a:ext cx="6583320" cy="1737000"/>
          </a:xfrm>
          <a:prstGeom prst="roundRect">
            <a:avLst>
              <a:gd name="adj" fmla="val 6316"/>
            </a:avLst>
          </a:prstGeom>
          <a:solidFill>
            <a:srgbClr val="150e3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5303520" y="271584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bbf24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6263640" y="26974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Mensagens que se perdem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6263640" y="3173040"/>
            <a:ext cx="5166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O chat do curso também concentra avisos importantes, então é fácil os alunos simplesmente não verem as propostas.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5029200" y="4343400"/>
            <a:ext cx="6583320" cy="1737000"/>
          </a:xfrm>
          <a:prstGeom prst="roundRect">
            <a:avLst>
              <a:gd name="adj" fmla="val 6316"/>
            </a:avLst>
          </a:prstGeom>
          <a:solidFill>
            <a:srgbClr val="150e3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5303520" y="46360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bbf24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6263640" y="461772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Falta de visibilidade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6263640" y="5093280"/>
            <a:ext cx="5166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Como o contato é feito no privado, nem alunos nem professores sabem quais grupos já têm ajuda e quais ainda precisam.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48640" y="292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6d3bf5"/>
                </a:solidFill>
                <a:effectLst/>
                <a:uFillTx/>
                <a:latin typeface="Arial"/>
                <a:ea typeface="Arial"/>
              </a:rPr>
              <a:t>SYNERGIA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11277360" y="6309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8686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A RESPOSTA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548640" y="120708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e1440"/>
                </a:solidFill>
                <a:effectLst/>
                <a:uFillTx/>
                <a:latin typeface="Georgia"/>
                <a:ea typeface="Georgia"/>
              </a:rPr>
              <a:t>Qual é a solução?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548640" y="2331720"/>
            <a:ext cx="5211720" cy="3840120"/>
          </a:xfrm>
          <a:prstGeom prst="roundRect">
            <a:avLst>
              <a:gd name="adj" fmla="val 3333"/>
            </a:avLst>
          </a:prstGeom>
          <a:solidFill>
            <a:srgbClr val="1e1440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 flipV="1">
            <a:off x="3442680" y="4439160"/>
            <a:ext cx="855000" cy="466560"/>
          </a:xfrm>
          <a:prstGeom prst="line">
            <a:avLst/>
          </a:prstGeom>
          <a:ln w="15240">
            <a:solidFill>
              <a:srgbClr val="9b7df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3449520" y="4419720"/>
            <a:ext cx="893880" cy="505440"/>
          </a:xfrm>
          <a:prstGeom prst="line">
            <a:avLst/>
          </a:prstGeom>
          <a:ln w="15240">
            <a:solidFill>
              <a:srgbClr val="9b7df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4309200" y="3934080"/>
            <a:ext cx="971280" cy="543960"/>
          </a:xfrm>
          <a:prstGeom prst="line">
            <a:avLst/>
          </a:prstGeom>
          <a:ln w="15240">
            <a:solidFill>
              <a:srgbClr val="9b7df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 flipV="1">
            <a:off x="4323600" y="4964040"/>
            <a:ext cx="932760" cy="427320"/>
          </a:xfrm>
          <a:prstGeom prst="line">
            <a:avLst/>
          </a:prstGeom>
          <a:ln w="15240">
            <a:solidFill>
              <a:srgbClr val="9b7df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 flipH="1">
            <a:off x="4373640" y="4944600"/>
            <a:ext cx="466200" cy="466200"/>
          </a:xfrm>
          <a:prstGeom prst="line">
            <a:avLst/>
          </a:prstGeom>
          <a:ln w="15240">
            <a:solidFill>
              <a:srgbClr val="9b7df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 flipH="1">
            <a:off x="5657040" y="4283640"/>
            <a:ext cx="38880" cy="932760"/>
          </a:xfrm>
          <a:prstGeom prst="line">
            <a:avLst/>
          </a:prstGeom>
          <a:ln w="15240">
            <a:solidFill>
              <a:srgbClr val="9b7df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 flipH="1" flipV="1">
            <a:off x="5171040" y="5663520"/>
            <a:ext cx="1360080" cy="38880"/>
          </a:xfrm>
          <a:prstGeom prst="line">
            <a:avLst/>
          </a:prstGeom>
          <a:ln w="15240">
            <a:solidFill>
              <a:srgbClr val="9b7df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120" bIns="-612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2"/>
          <p:cNvSpPr/>
          <p:nvPr/>
        </p:nvSpPr>
        <p:spPr>
          <a:xfrm>
            <a:off x="3700080" y="4186800"/>
            <a:ext cx="427320" cy="971280"/>
          </a:xfrm>
          <a:prstGeom prst="line">
            <a:avLst/>
          </a:prstGeom>
          <a:ln w="15240">
            <a:solidFill>
              <a:srgbClr val="9b7df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3"/>
          <p:cNvSpPr/>
          <p:nvPr/>
        </p:nvSpPr>
        <p:spPr>
          <a:xfrm>
            <a:off x="3264480" y="4553640"/>
            <a:ext cx="237240" cy="237240"/>
          </a:xfrm>
          <a:prstGeom prst="ellipse">
            <a:avLst/>
          </a:prstGeom>
          <a:solidFill>
            <a:srgbClr val="9b7dfb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4"/>
          <p:cNvSpPr/>
          <p:nvPr/>
        </p:nvSpPr>
        <p:spPr>
          <a:xfrm>
            <a:off x="4155840" y="4123800"/>
            <a:ext cx="164160" cy="164160"/>
          </a:xfrm>
          <a:prstGeom prst="ellipse">
            <a:avLst/>
          </a:prstGeom>
          <a:solidFill>
            <a:srgbClr val="9b7dfb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4158360" y="5059080"/>
            <a:ext cx="237240" cy="237240"/>
          </a:xfrm>
          <a:prstGeom prst="ellipse">
            <a:avLst/>
          </a:prstGeom>
          <a:solidFill>
            <a:srgbClr val="9b7dfb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6"/>
          <p:cNvSpPr/>
          <p:nvPr/>
        </p:nvSpPr>
        <p:spPr>
          <a:xfrm>
            <a:off x="5127480" y="4668120"/>
            <a:ext cx="164160" cy="164160"/>
          </a:xfrm>
          <a:prstGeom prst="ellipse">
            <a:avLst/>
          </a:prstGeom>
          <a:solidFill>
            <a:srgbClr val="9b7dfb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7"/>
          <p:cNvSpPr/>
          <p:nvPr/>
        </p:nvSpPr>
        <p:spPr>
          <a:xfrm>
            <a:off x="5052240" y="5564160"/>
            <a:ext cx="237240" cy="237240"/>
          </a:xfrm>
          <a:prstGeom prst="ellipse">
            <a:avLst/>
          </a:prstGeom>
          <a:solidFill>
            <a:srgbClr val="9b7dfb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8"/>
          <p:cNvSpPr/>
          <p:nvPr/>
        </p:nvSpPr>
        <p:spPr>
          <a:xfrm>
            <a:off x="3728520" y="5562000"/>
            <a:ext cx="164160" cy="164160"/>
          </a:xfrm>
          <a:prstGeom prst="ellipse">
            <a:avLst/>
          </a:prstGeom>
          <a:solidFill>
            <a:srgbClr val="9b7dfb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9"/>
          <p:cNvSpPr/>
          <p:nvPr/>
        </p:nvSpPr>
        <p:spPr>
          <a:xfrm>
            <a:off x="960120" y="2697480"/>
            <a:ext cx="1051200" cy="1051200"/>
          </a:xfrm>
          <a:prstGeom prst="ellipse">
            <a:avLst/>
          </a:prstGeom>
          <a:solidFill>
            <a:srgbClr val="6d3b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preencoded.png"/>
          <p:cNvPicPr/>
          <p:nvPr/>
        </p:nvPicPr>
        <p:blipFill>
          <a:blip r:embed="rId1"/>
          <a:stretch/>
        </p:blipFill>
        <p:spPr>
          <a:xfrm>
            <a:off x="1207080" y="2944440"/>
            <a:ext cx="56664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20"/>
          <p:cNvSpPr/>
          <p:nvPr/>
        </p:nvSpPr>
        <p:spPr>
          <a:xfrm>
            <a:off x="960120" y="3977640"/>
            <a:ext cx="44802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Uma plataforma intuitiva para encontrar, conectar e colaborar.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1"/>
          <p:cNvSpPr/>
          <p:nvPr/>
        </p:nvSpPr>
        <p:spPr>
          <a:xfrm>
            <a:off x="960120" y="5257800"/>
            <a:ext cx="448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O Synergia facilita a formação de equipes multidisciplinares e mantém a comunicação fluida do início ao fim do projeto.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2"/>
          <p:cNvSpPr/>
          <p:nvPr/>
        </p:nvSpPr>
        <p:spPr>
          <a:xfrm>
            <a:off x="6080760" y="2331720"/>
            <a:ext cx="2880000" cy="1782720"/>
          </a:xfrm>
          <a:prstGeom prst="roundRect">
            <a:avLst>
              <a:gd name="adj" fmla="val 5128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3"/>
          <p:cNvSpPr/>
          <p:nvPr/>
        </p:nvSpPr>
        <p:spPr>
          <a:xfrm>
            <a:off x="6373440" y="2527200"/>
            <a:ext cx="712800" cy="712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1" descr="preencoded.png"/>
          <p:cNvPicPr/>
          <p:nvPr/>
        </p:nvPicPr>
        <p:blipFill>
          <a:blip r:embed="rId2"/>
          <a:stretch/>
        </p:blipFill>
        <p:spPr>
          <a:xfrm>
            <a:off x="6565320" y="27313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24"/>
          <p:cNvSpPr/>
          <p:nvPr/>
        </p:nvSpPr>
        <p:spPr>
          <a:xfrm>
            <a:off x="6355080" y="32922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Login único da universidade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5"/>
          <p:cNvSpPr/>
          <p:nvPr/>
        </p:nvSpPr>
        <p:spPr>
          <a:xfrm>
            <a:off x="6355080" y="37033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Acesso simples com as credenciais que o aluno já possui.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6"/>
          <p:cNvSpPr/>
          <p:nvPr/>
        </p:nvSpPr>
        <p:spPr>
          <a:xfrm>
            <a:off x="9144000" y="2331720"/>
            <a:ext cx="2880000" cy="1782720"/>
          </a:xfrm>
          <a:prstGeom prst="roundRect">
            <a:avLst>
              <a:gd name="adj" fmla="val 5128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7"/>
          <p:cNvSpPr/>
          <p:nvPr/>
        </p:nvSpPr>
        <p:spPr>
          <a:xfrm>
            <a:off x="9436680" y="2520000"/>
            <a:ext cx="712800" cy="712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2" descr="preencoded.png"/>
          <p:cNvPicPr/>
          <p:nvPr/>
        </p:nvPicPr>
        <p:blipFill>
          <a:blip r:embed="rId3"/>
          <a:stretch/>
        </p:blipFill>
        <p:spPr>
          <a:xfrm>
            <a:off x="9628560" y="27313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28"/>
          <p:cNvSpPr/>
          <p:nvPr/>
        </p:nvSpPr>
        <p:spPr>
          <a:xfrm>
            <a:off x="9418320" y="32922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Busca e descoberta de projetos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9418320" y="37033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Encontre projetos e eventos e veja seus detalhes num só lugar.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0"/>
          <p:cNvSpPr/>
          <p:nvPr/>
        </p:nvSpPr>
        <p:spPr>
          <a:xfrm>
            <a:off x="6080760" y="4297680"/>
            <a:ext cx="2880000" cy="1782720"/>
          </a:xfrm>
          <a:prstGeom prst="roundRect">
            <a:avLst>
              <a:gd name="adj" fmla="val 5128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1"/>
          <p:cNvSpPr/>
          <p:nvPr/>
        </p:nvSpPr>
        <p:spPr>
          <a:xfrm>
            <a:off x="6373440" y="4500000"/>
            <a:ext cx="712800" cy="712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3" descr="preencoded.png"/>
          <p:cNvPicPr/>
          <p:nvPr/>
        </p:nvPicPr>
        <p:blipFill>
          <a:blip r:embed="rId4"/>
          <a:stretch/>
        </p:blipFill>
        <p:spPr>
          <a:xfrm>
            <a:off x="6565320" y="47113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32"/>
          <p:cNvSpPr/>
          <p:nvPr/>
        </p:nvSpPr>
        <p:spPr>
          <a:xfrm>
            <a:off x="6355080" y="52200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Filtragem por critérios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3"/>
          <p:cNvSpPr/>
          <p:nvPr/>
        </p:nvSpPr>
        <p:spPr>
          <a:xfrm>
            <a:off x="6355080" y="555624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Refine por curso, evento, título e muito mais.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4"/>
          <p:cNvSpPr/>
          <p:nvPr/>
        </p:nvSpPr>
        <p:spPr>
          <a:xfrm>
            <a:off x="9144000" y="4297680"/>
            <a:ext cx="2880000" cy="1782720"/>
          </a:xfrm>
          <a:prstGeom prst="roundRect">
            <a:avLst>
              <a:gd name="adj" fmla="val 5128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5"/>
          <p:cNvSpPr/>
          <p:nvPr/>
        </p:nvSpPr>
        <p:spPr>
          <a:xfrm>
            <a:off x="9436680" y="4507200"/>
            <a:ext cx="712800" cy="712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4" descr="preencoded.png"/>
          <p:cNvPicPr/>
          <p:nvPr/>
        </p:nvPicPr>
        <p:blipFill>
          <a:blip r:embed="rId5"/>
          <a:stretch/>
        </p:blipFill>
        <p:spPr>
          <a:xfrm>
            <a:off x="9628560" y="47113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36"/>
          <p:cNvSpPr/>
          <p:nvPr/>
        </p:nvSpPr>
        <p:spPr>
          <a:xfrm>
            <a:off x="9418320" y="525816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Comunicação integrada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7"/>
          <p:cNvSpPr/>
          <p:nvPr/>
        </p:nvSpPr>
        <p:spPr>
          <a:xfrm>
            <a:off x="9418320" y="558000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Um canal direto entre membros da equipe e professores.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48640" y="292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6d3bf5"/>
                </a:solidFill>
                <a:effectLst/>
                <a:uFillTx/>
                <a:latin typeface="Arial"/>
                <a:ea typeface="Arial"/>
              </a:rPr>
              <a:t>SYNERGIA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11277360" y="6309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548640" y="8686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O PRODUTO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548640" y="120708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e1440"/>
                </a:solidFill>
                <a:effectLst/>
                <a:uFillTx/>
                <a:latin typeface="Georgia"/>
                <a:ea typeface="Georgia"/>
              </a:rPr>
              <a:t>Principais funcionalidades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548640" y="246888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4f1f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868680" y="2816280"/>
            <a:ext cx="749520" cy="749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0" descr="preencoded.png"/>
          <p:cNvPicPr/>
          <p:nvPr/>
        </p:nvPicPr>
        <p:blipFill>
          <a:blip r:embed="rId1"/>
          <a:stretch/>
        </p:blipFill>
        <p:spPr>
          <a:xfrm>
            <a:off x="1069920" y="30175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6"/>
          <p:cNvSpPr/>
          <p:nvPr/>
        </p:nvSpPr>
        <p:spPr>
          <a:xfrm>
            <a:off x="1783080" y="281628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Login único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914400" y="354780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Autenticação com as credenciais da universidade e opção de dois fatores.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4398120" y="246888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4f1f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4718160" y="2816280"/>
            <a:ext cx="749520" cy="749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1" descr="preencoded.png"/>
          <p:cNvPicPr/>
          <p:nvPr/>
        </p:nvPicPr>
        <p:blipFill>
          <a:blip r:embed="rId2"/>
          <a:stretch/>
        </p:blipFill>
        <p:spPr>
          <a:xfrm>
            <a:off x="4919400" y="30175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10"/>
          <p:cNvSpPr/>
          <p:nvPr/>
        </p:nvSpPr>
        <p:spPr>
          <a:xfrm>
            <a:off x="5632560" y="281628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Explorar projetos e eventos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4763880" y="354780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Navegue por projetos e eventos com detalhes completos em cada cartão.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8247960" y="246888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4f1f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8568000" y="2816280"/>
            <a:ext cx="749520" cy="749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2" descr="preencoded.png"/>
          <p:cNvPicPr/>
          <p:nvPr/>
        </p:nvPicPr>
        <p:blipFill>
          <a:blip r:embed="rId3"/>
          <a:stretch/>
        </p:blipFill>
        <p:spPr>
          <a:xfrm>
            <a:off x="8769240" y="30175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14"/>
          <p:cNvSpPr/>
          <p:nvPr/>
        </p:nvSpPr>
        <p:spPr>
          <a:xfrm>
            <a:off x="9482400" y="281628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Filtros e ordenação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8613720" y="354780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Por curso, evento, ano, título e ordem — para achar o que importa.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6"/>
          <p:cNvSpPr/>
          <p:nvPr/>
        </p:nvSpPr>
        <p:spPr>
          <a:xfrm>
            <a:off x="548640" y="434340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4f1f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868680" y="4690800"/>
            <a:ext cx="749520" cy="749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3" descr="preencoded.png"/>
          <p:cNvPicPr/>
          <p:nvPr/>
        </p:nvPicPr>
        <p:blipFill>
          <a:blip r:embed="rId4"/>
          <a:stretch/>
        </p:blipFill>
        <p:spPr>
          <a:xfrm>
            <a:off x="1069920" y="4892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18"/>
          <p:cNvSpPr/>
          <p:nvPr/>
        </p:nvSpPr>
        <p:spPr>
          <a:xfrm>
            <a:off x="1783080" y="469080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Criação de projetos e eventos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914400" y="542232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Alunos criam projetos; professores criam eventos públicos ou privados.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0"/>
          <p:cNvSpPr/>
          <p:nvPr/>
        </p:nvSpPr>
        <p:spPr>
          <a:xfrm>
            <a:off x="4398120" y="434340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4f1f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1"/>
          <p:cNvSpPr/>
          <p:nvPr/>
        </p:nvSpPr>
        <p:spPr>
          <a:xfrm>
            <a:off x="4718160" y="4690800"/>
            <a:ext cx="749520" cy="749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4" descr="preencoded.png"/>
          <p:cNvPicPr/>
          <p:nvPr/>
        </p:nvPicPr>
        <p:blipFill>
          <a:blip r:embed="rId5"/>
          <a:stretch/>
        </p:blipFill>
        <p:spPr>
          <a:xfrm>
            <a:off x="4919400" y="4892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22"/>
          <p:cNvSpPr/>
          <p:nvPr/>
        </p:nvSpPr>
        <p:spPr>
          <a:xfrm>
            <a:off x="5632560" y="469080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Mensagens integradas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3"/>
          <p:cNvSpPr/>
          <p:nvPr/>
        </p:nvSpPr>
        <p:spPr>
          <a:xfrm>
            <a:off x="4763880" y="542232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Chat entre membros do grupo e professores envolvidos no evento.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4"/>
          <p:cNvSpPr/>
          <p:nvPr/>
        </p:nvSpPr>
        <p:spPr>
          <a:xfrm>
            <a:off x="8247960" y="434340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4f1f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5"/>
          <p:cNvSpPr/>
          <p:nvPr/>
        </p:nvSpPr>
        <p:spPr>
          <a:xfrm>
            <a:off x="8568000" y="4690800"/>
            <a:ext cx="749520" cy="749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5" descr="preencoded.png"/>
          <p:cNvPicPr/>
          <p:nvPr/>
        </p:nvPicPr>
        <p:blipFill>
          <a:blip r:embed="rId6"/>
          <a:stretch/>
        </p:blipFill>
        <p:spPr>
          <a:xfrm>
            <a:off x="8769240" y="4892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26"/>
          <p:cNvSpPr/>
          <p:nvPr/>
        </p:nvSpPr>
        <p:spPr>
          <a:xfrm>
            <a:off x="9482400" y="4690800"/>
            <a:ext cx="2102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Notificações e feed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7"/>
          <p:cNvSpPr/>
          <p:nvPr/>
        </p:nvSpPr>
        <p:spPr>
          <a:xfrm>
            <a:off x="8613720" y="542232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Avisos por e-mail/SMS e um feed com as postagens dos eventos.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548640" y="292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6d3bf5"/>
                </a:solidFill>
                <a:effectLst/>
                <a:uFillTx/>
                <a:latin typeface="Arial"/>
                <a:ea typeface="Arial"/>
              </a:rPr>
              <a:t>SYNERGIA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11277360" y="6309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548640" y="8686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PROPOSTA DE VALOR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548640" y="1280160"/>
            <a:ext cx="110638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241a3d"/>
                </a:solidFill>
                <a:effectLst/>
                <a:uFillTx/>
                <a:latin typeface="Georgia"/>
                <a:ea typeface="Georgia"/>
              </a:rPr>
              <a:t>Facilitar a colaboração entre alunos de diferentes cursos, promovendo a </a:t>
            </a:r>
            <a:r>
              <a:rPr lang="en-US" sz="3000" b="1" u="none" strike="noStrike">
                <a:solidFill>
                  <a:srgbClr val="6d3bf5"/>
                </a:solidFill>
                <a:effectLst/>
                <a:uFillTx/>
                <a:latin typeface="Georgia"/>
                <a:ea typeface="Georgia"/>
              </a:rPr>
              <a:t>interdisciplinaridade</a:t>
            </a:r>
            <a:r>
              <a:rPr lang="en-US" sz="3000" b="1" u="none" strike="noStrike">
                <a:solidFill>
                  <a:srgbClr val="241a3d"/>
                </a:solidFill>
                <a:effectLst/>
                <a:uFillTx/>
                <a:latin typeface="Georgia"/>
                <a:ea typeface="Georgia"/>
              </a:rPr>
              <a:t> e enriquecendo a experiência acadêmica.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"/>
          <p:cNvSpPr/>
          <p:nvPr/>
        </p:nvSpPr>
        <p:spPr>
          <a:xfrm>
            <a:off x="548640" y="3246120"/>
            <a:ext cx="3520080" cy="2880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960120" y="3630240"/>
            <a:ext cx="914040" cy="914040"/>
          </a:xfrm>
          <a:prstGeom prst="ellipse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1"/>
          <a:stretch/>
        </p:blipFill>
        <p:spPr>
          <a:xfrm>
            <a:off x="1207080" y="387720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6"/>
          <p:cNvSpPr/>
          <p:nvPr/>
        </p:nvSpPr>
        <p:spPr>
          <a:xfrm>
            <a:off x="932760" y="4709160"/>
            <a:ext cx="275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Interdisciplinaridade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932760" y="5166360"/>
            <a:ext cx="2751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Projetos mais ricos, construídos com múltiplos olhares e áreas do conhecimento.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4325040" y="3246120"/>
            <a:ext cx="3520080" cy="2880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4736520" y="3630240"/>
            <a:ext cx="914040" cy="914040"/>
          </a:xfrm>
          <a:prstGeom prst="ellipse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1" descr="preencoded.png"/>
          <p:cNvPicPr/>
          <p:nvPr/>
        </p:nvPicPr>
        <p:blipFill>
          <a:blip r:embed="rId2"/>
          <a:stretch/>
        </p:blipFill>
        <p:spPr>
          <a:xfrm>
            <a:off x="4983480" y="387720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10"/>
          <p:cNvSpPr/>
          <p:nvPr/>
        </p:nvSpPr>
        <p:spPr>
          <a:xfrm>
            <a:off x="4709160" y="4709160"/>
            <a:ext cx="275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Habilidades socioemocionais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4709160" y="5166360"/>
            <a:ext cx="2751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Trabalho em equipe, comunicação e colaboração desenvolvidos na prática.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2"/>
          <p:cNvSpPr/>
          <p:nvPr/>
        </p:nvSpPr>
        <p:spPr>
          <a:xfrm>
            <a:off x="8101440" y="3246120"/>
            <a:ext cx="3520080" cy="2880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3"/>
          <p:cNvSpPr/>
          <p:nvPr/>
        </p:nvSpPr>
        <p:spPr>
          <a:xfrm>
            <a:off x="8512920" y="3630240"/>
            <a:ext cx="914040" cy="914040"/>
          </a:xfrm>
          <a:prstGeom prst="ellipse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2" descr="preencoded.png"/>
          <p:cNvPicPr/>
          <p:nvPr/>
        </p:nvPicPr>
        <p:blipFill>
          <a:blip r:embed="rId3"/>
          <a:stretch/>
        </p:blipFill>
        <p:spPr>
          <a:xfrm>
            <a:off x="8759880" y="387720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14"/>
          <p:cNvSpPr/>
          <p:nvPr/>
        </p:nvSpPr>
        <p:spPr>
          <a:xfrm>
            <a:off x="8485560" y="4709160"/>
            <a:ext cx="275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Experiências acadêmicas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8485560" y="5166360"/>
            <a:ext cx="2751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Estudantes mais preparados e engajados, com um portfólio de projetos reais.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48640" y="292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6d3bf5"/>
                </a:solidFill>
                <a:effectLst/>
                <a:uFillTx/>
                <a:latin typeface="Arial"/>
                <a:ea typeface="Arial"/>
              </a:rPr>
              <a:t>SYNERGIA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11277360" y="6309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548640" y="8686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OPORTUNIDADE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548640" y="120708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e1440"/>
                </a:solidFill>
                <a:effectLst/>
                <a:uFillTx/>
                <a:latin typeface="Georgia"/>
                <a:ea typeface="Georgia"/>
              </a:rPr>
              <a:t>Análise de mercado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548640" y="2148840"/>
            <a:ext cx="5486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241a3d"/>
                </a:solidFill>
                <a:effectLst/>
                <a:uFillTx/>
                <a:latin typeface="Arial"/>
                <a:ea typeface="Arial"/>
              </a:rPr>
              <a:t>Só na FAG, a demanda potencial já é expressiva — e cresce ao considerarmos as demais universidades de Cascavel.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548640" y="3246120"/>
            <a:ext cx="5486040" cy="840960"/>
          </a:xfrm>
          <a:prstGeom prst="roundRect">
            <a:avLst>
              <a:gd name="adj" fmla="val 10870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777240" y="330084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6d3bf5"/>
                </a:solidFill>
                <a:effectLst/>
                <a:uFillTx/>
                <a:latin typeface="Georgia"/>
                <a:ea typeface="Georgia"/>
              </a:rPr>
              <a:t>~12 mil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2880360" y="330084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241a3d"/>
                </a:solidFill>
                <a:effectLst/>
                <a:uFillTx/>
                <a:latin typeface="Arial"/>
                <a:ea typeface="Arial"/>
              </a:rPr>
              <a:t>alunos em formação na FAG (2015)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548640" y="4206240"/>
            <a:ext cx="5486040" cy="840960"/>
          </a:xfrm>
          <a:prstGeom prst="roundRect">
            <a:avLst>
              <a:gd name="adj" fmla="val 10870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777240" y="426096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6d3bf5"/>
                </a:solidFill>
                <a:effectLst/>
                <a:uFillTx/>
                <a:latin typeface="Georgia"/>
                <a:ea typeface="Georgia"/>
              </a:rPr>
              <a:t>4,7 mil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2880360" y="426096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241a3d"/>
                </a:solidFill>
                <a:effectLst/>
                <a:uFillTx/>
                <a:latin typeface="Arial"/>
                <a:ea typeface="Arial"/>
              </a:rPr>
              <a:t>candidatos no Vestibular 2023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48640" y="5166360"/>
            <a:ext cx="5486040" cy="840960"/>
          </a:xfrm>
          <a:prstGeom prst="roundRect">
            <a:avLst>
              <a:gd name="adj" fmla="val 10870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960120" y="5312520"/>
            <a:ext cx="548280" cy="548280"/>
          </a:xfrm>
          <a:prstGeom prst="ellipse">
            <a:avLst/>
          </a:prstGeom>
          <a:solidFill>
            <a:srgbClr val="6d3b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0" descr="preencoded.png"/>
          <p:cNvPicPr/>
          <p:nvPr/>
        </p:nvPicPr>
        <p:blipFill>
          <a:blip r:embed="rId1"/>
          <a:stretch/>
        </p:blipFill>
        <p:spPr>
          <a:xfrm>
            <a:off x="1115640" y="54680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13"/>
          <p:cNvSpPr/>
          <p:nvPr/>
        </p:nvSpPr>
        <p:spPr>
          <a:xfrm>
            <a:off x="1737360" y="522108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241a3d"/>
                </a:solidFill>
                <a:effectLst/>
                <a:uFillTx/>
                <a:latin typeface="Arial"/>
                <a:ea typeface="Arial"/>
              </a:rPr>
              <a:t>Somadas às demais universidades de Cascavel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4"/>
          <p:cNvSpPr/>
          <p:nvPr/>
        </p:nvSpPr>
        <p:spPr>
          <a:xfrm>
            <a:off x="6400800" y="2148840"/>
            <a:ext cx="5211720" cy="4023000"/>
          </a:xfrm>
          <a:prstGeom prst="roundRect">
            <a:avLst>
              <a:gd name="adj" fmla="val 3182"/>
            </a:avLst>
          </a:prstGeom>
          <a:solidFill>
            <a:srgbClr val="1e1440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6766560" y="23774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Base potencial de usuários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4" name="Chart 0"/>
          <p:cNvGraphicFramePr/>
          <p:nvPr/>
        </p:nvGraphicFramePr>
        <p:xfrm>
          <a:off x="6537960" y="2788920"/>
          <a:ext cx="493740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-2286000" y="3657600"/>
            <a:ext cx="5486040" cy="5486040"/>
          </a:xfrm>
          <a:prstGeom prst="ellipse">
            <a:avLst/>
          </a:prstGeom>
          <a:solidFill>
            <a:srgbClr val="6d3bf5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548640" y="292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SYNERGIA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11277360" y="6309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548640" y="8686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ARQUITETURA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548640" y="120708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Moderno, escalável e confiável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548640" y="20574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Um protótipo funcional já em desenvolvimento, com uma arquitetura pensada para crescer sob demanda.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6"/>
          <p:cNvSpPr/>
          <p:nvPr/>
        </p:nvSpPr>
        <p:spPr>
          <a:xfrm>
            <a:off x="548640" y="2697480"/>
            <a:ext cx="3565800" cy="1599840"/>
          </a:xfrm>
          <a:prstGeom prst="roundRect">
            <a:avLst>
              <a:gd name="adj" fmla="val 5714"/>
            </a:avLst>
          </a:prstGeom>
          <a:solidFill>
            <a:srgbClr val="150e3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841320" y="3008520"/>
            <a:ext cx="658080" cy="658080"/>
          </a:xfrm>
          <a:prstGeom prst="ellipse">
            <a:avLst/>
          </a:prstGeom>
          <a:solidFill>
            <a:srgbClr val="1e144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 0" descr="preencoded.png"/>
          <p:cNvPicPr/>
          <p:nvPr/>
        </p:nvPicPr>
        <p:blipFill>
          <a:blip r:embed="rId1"/>
          <a:stretch/>
        </p:blipFill>
        <p:spPr>
          <a:xfrm>
            <a:off x="1014840" y="31820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8"/>
          <p:cNvSpPr/>
          <p:nvPr/>
        </p:nvSpPr>
        <p:spPr>
          <a:xfrm>
            <a:off x="1645920" y="299016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Front-end em TypeScript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896040" y="368496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Interface responsiva e acessível para desktop e mobile.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>
            <a:off x="4398120" y="2697480"/>
            <a:ext cx="3565800" cy="1599840"/>
          </a:xfrm>
          <a:prstGeom prst="roundRect">
            <a:avLst>
              <a:gd name="adj" fmla="val 5714"/>
            </a:avLst>
          </a:prstGeom>
          <a:solidFill>
            <a:srgbClr val="150e3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4690800" y="3008520"/>
            <a:ext cx="658080" cy="658080"/>
          </a:xfrm>
          <a:prstGeom prst="ellipse">
            <a:avLst/>
          </a:prstGeom>
          <a:solidFill>
            <a:srgbClr val="1e144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 1" descr="preencoded.png"/>
          <p:cNvPicPr/>
          <p:nvPr/>
        </p:nvPicPr>
        <p:blipFill>
          <a:blip r:embed="rId2"/>
          <a:stretch/>
        </p:blipFill>
        <p:spPr>
          <a:xfrm>
            <a:off x="4864680" y="31820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12"/>
          <p:cNvSpPr/>
          <p:nvPr/>
        </p:nvSpPr>
        <p:spPr>
          <a:xfrm>
            <a:off x="5495400" y="299016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Back-end em Kotlin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4745880" y="368496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APIs REST protegidas com JWT e arquitetura orientada a eventos.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4"/>
          <p:cNvSpPr/>
          <p:nvPr/>
        </p:nvSpPr>
        <p:spPr>
          <a:xfrm>
            <a:off x="8247960" y="2697480"/>
            <a:ext cx="3565800" cy="1599840"/>
          </a:xfrm>
          <a:prstGeom prst="roundRect">
            <a:avLst>
              <a:gd name="adj" fmla="val 5714"/>
            </a:avLst>
          </a:prstGeom>
          <a:solidFill>
            <a:srgbClr val="150e3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5"/>
          <p:cNvSpPr/>
          <p:nvPr/>
        </p:nvSpPr>
        <p:spPr>
          <a:xfrm>
            <a:off x="8540640" y="3008520"/>
            <a:ext cx="658080" cy="658080"/>
          </a:xfrm>
          <a:prstGeom prst="ellipse">
            <a:avLst/>
          </a:prstGeom>
          <a:solidFill>
            <a:srgbClr val="1e144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2" descr="preencoded.png"/>
          <p:cNvPicPr/>
          <p:nvPr/>
        </p:nvPicPr>
        <p:blipFill>
          <a:blip r:embed="rId3"/>
          <a:stretch/>
        </p:blipFill>
        <p:spPr>
          <a:xfrm>
            <a:off x="8714160" y="31820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16"/>
          <p:cNvSpPr/>
          <p:nvPr/>
        </p:nvSpPr>
        <p:spPr>
          <a:xfrm>
            <a:off x="9345240" y="299016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PostgreSQL + MongoDB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7"/>
          <p:cNvSpPr/>
          <p:nvPr/>
        </p:nvSpPr>
        <p:spPr>
          <a:xfrm>
            <a:off x="8595360" y="368496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Dados relacionais e notificações agendadas por TTL.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0"/>
          <p:cNvSpPr/>
          <p:nvPr/>
        </p:nvSpPr>
        <p:spPr>
          <a:xfrm>
            <a:off x="1645920" y="477324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2"/>
          <p:cNvSpPr/>
          <p:nvPr/>
        </p:nvSpPr>
        <p:spPr>
          <a:xfrm>
            <a:off x="4398120" y="4480560"/>
            <a:ext cx="3565800" cy="1599840"/>
          </a:xfrm>
          <a:prstGeom prst="roundRect">
            <a:avLst>
              <a:gd name="adj" fmla="val 5714"/>
            </a:avLst>
          </a:prstGeom>
          <a:solidFill>
            <a:srgbClr val="150e3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3"/>
          <p:cNvSpPr/>
          <p:nvPr/>
        </p:nvSpPr>
        <p:spPr>
          <a:xfrm>
            <a:off x="4690800" y="4791600"/>
            <a:ext cx="658080" cy="658080"/>
          </a:xfrm>
          <a:prstGeom prst="ellipse">
            <a:avLst/>
          </a:prstGeom>
          <a:solidFill>
            <a:srgbClr val="1e1440"/>
          </a:solidFill>
          <a:ln w="12700">
            <a:solidFill>
              <a:srgbClr val="6d3b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5495400" y="477324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Segurança por padrão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5"/>
          <p:cNvSpPr/>
          <p:nvPr/>
        </p:nvSpPr>
        <p:spPr>
          <a:xfrm>
            <a:off x="4745880" y="54680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Criptografia de senhas e proteção de dados pessoais.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5" descr="preencoded.png"/>
          <p:cNvPicPr/>
          <p:nvPr/>
        </p:nvPicPr>
        <p:blipFill>
          <a:blip r:embed="rId4"/>
          <a:stretch/>
        </p:blipFill>
        <p:spPr>
          <a:xfrm>
            <a:off x="4860000" y="496512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28"/>
          <p:cNvSpPr/>
          <p:nvPr/>
        </p:nvSpPr>
        <p:spPr>
          <a:xfrm>
            <a:off x="9345240" y="477324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9"/>
          <p:cNvSpPr/>
          <p:nvPr/>
        </p:nvSpPr>
        <p:spPr>
          <a:xfrm>
            <a:off x="8595360" y="54680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548640" y="292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300" strike="noStrike">
                <a:solidFill>
                  <a:srgbClr val="6d3bf5"/>
                </a:solidFill>
                <a:effectLst/>
                <a:uFillTx/>
                <a:latin typeface="Arial"/>
                <a:ea typeface="Arial"/>
              </a:rPr>
              <a:t>SYNERGIA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11277360" y="6309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548640" y="8686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SUSTENTABILIDADE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548640" y="120708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1e1440"/>
                </a:solidFill>
                <a:effectLst/>
                <a:uFillTx/>
                <a:latin typeface="Georgia"/>
                <a:ea typeface="Georgia"/>
              </a:rPr>
              <a:t>Monetização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4"/>
          <p:cNvSpPr/>
          <p:nvPr/>
        </p:nvSpPr>
        <p:spPr>
          <a:xfrm>
            <a:off x="548640" y="2331720"/>
            <a:ext cx="5394600" cy="3840120"/>
          </a:xfrm>
          <a:prstGeom prst="roundRect">
            <a:avLst>
              <a:gd name="adj" fmla="val 3333"/>
            </a:avLst>
          </a:prstGeom>
          <a:solidFill>
            <a:srgbClr val="1e1440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1e144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5"/>
          <p:cNvSpPr/>
          <p:nvPr/>
        </p:nvSpPr>
        <p:spPr>
          <a:xfrm>
            <a:off x="960120" y="2697480"/>
            <a:ext cx="1005480" cy="1005480"/>
          </a:xfrm>
          <a:prstGeom prst="ellipse">
            <a:avLst/>
          </a:prstGeom>
          <a:solidFill>
            <a:srgbClr val="fbbf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0" descr="preencoded.png"/>
          <p:cNvPicPr/>
          <p:nvPr/>
        </p:nvPicPr>
        <p:blipFill>
          <a:blip r:embed="rId1"/>
          <a:stretch/>
        </p:blipFill>
        <p:spPr>
          <a:xfrm>
            <a:off x="1188720" y="29260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6"/>
          <p:cNvSpPr/>
          <p:nvPr/>
        </p:nvSpPr>
        <p:spPr>
          <a:xfrm>
            <a:off x="960120" y="388620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100% Open Source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960120" y="4526280"/>
            <a:ext cx="4663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O Synergia não tem fins lucrativos. É disponibilizado gratuitamente para qualquer instituição interessada em adotá-lo.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6217920" y="2331720"/>
            <a:ext cx="5394600" cy="1170000"/>
          </a:xfrm>
          <a:prstGeom prst="roundRect">
            <a:avLst>
              <a:gd name="adj" fmla="val 7813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6473880" y="2624400"/>
            <a:ext cx="603000" cy="60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1" descr="preencoded.png"/>
          <p:cNvPicPr/>
          <p:nvPr/>
        </p:nvPicPr>
        <p:blipFill>
          <a:blip r:embed="rId2"/>
          <a:stretch/>
        </p:blipFill>
        <p:spPr>
          <a:xfrm>
            <a:off x="6629400" y="27799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10"/>
          <p:cNvSpPr/>
          <p:nvPr/>
        </p:nvSpPr>
        <p:spPr>
          <a:xfrm>
            <a:off x="7223760" y="2514600"/>
            <a:ext cx="416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5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Missão, não lucro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7223760" y="2898720"/>
            <a:ext cx="4160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O foco é o impacto acadêmico e social — não a receita.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2"/>
          <p:cNvSpPr/>
          <p:nvPr/>
        </p:nvSpPr>
        <p:spPr>
          <a:xfrm>
            <a:off x="6217920" y="3630240"/>
            <a:ext cx="5394600" cy="1170000"/>
          </a:xfrm>
          <a:prstGeom prst="roundRect">
            <a:avLst>
              <a:gd name="adj" fmla="val 7813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3"/>
          <p:cNvSpPr/>
          <p:nvPr/>
        </p:nvSpPr>
        <p:spPr>
          <a:xfrm>
            <a:off x="6473880" y="3922920"/>
            <a:ext cx="603000" cy="60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Image 2" descr="preencoded.png"/>
          <p:cNvPicPr/>
          <p:nvPr/>
        </p:nvPicPr>
        <p:blipFill>
          <a:blip r:embed="rId3"/>
          <a:stretch/>
        </p:blipFill>
        <p:spPr>
          <a:xfrm>
            <a:off x="6629400" y="40780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14"/>
          <p:cNvSpPr/>
          <p:nvPr/>
        </p:nvSpPr>
        <p:spPr>
          <a:xfrm>
            <a:off x="7223760" y="3813120"/>
            <a:ext cx="416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5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Aberto e adaptável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5"/>
          <p:cNvSpPr/>
          <p:nvPr/>
        </p:nvSpPr>
        <p:spPr>
          <a:xfrm>
            <a:off x="7223760" y="4197240"/>
            <a:ext cx="4160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Qualquer instituição pode implantar e personalizar o sistema.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6"/>
          <p:cNvSpPr/>
          <p:nvPr/>
        </p:nvSpPr>
        <p:spPr>
          <a:xfrm>
            <a:off x="6217920" y="4928760"/>
            <a:ext cx="5394600" cy="1170000"/>
          </a:xfrm>
          <a:prstGeom prst="roundRect">
            <a:avLst>
              <a:gd name="adj" fmla="val 7813"/>
            </a:avLst>
          </a:prstGeom>
          <a:solidFill>
            <a:srgbClr val="f4f1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7"/>
          <p:cNvSpPr/>
          <p:nvPr/>
        </p:nvSpPr>
        <p:spPr>
          <a:xfrm>
            <a:off x="6473880" y="5221080"/>
            <a:ext cx="603000" cy="60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d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3" descr="preencoded.png"/>
          <p:cNvPicPr/>
          <p:nvPr/>
        </p:nvPicPr>
        <p:blipFill>
          <a:blip r:embed="rId4"/>
          <a:stretch/>
        </p:blipFill>
        <p:spPr>
          <a:xfrm>
            <a:off x="6629400" y="53766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18"/>
          <p:cNvSpPr/>
          <p:nvPr/>
        </p:nvSpPr>
        <p:spPr>
          <a:xfrm>
            <a:off x="7223760" y="5111640"/>
            <a:ext cx="416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50" b="1" u="none" strike="noStrike">
                <a:solidFill>
                  <a:srgbClr val="1e1440"/>
                </a:solidFill>
                <a:effectLst/>
                <a:uFillTx/>
                <a:latin typeface="Arial"/>
                <a:ea typeface="Arial"/>
              </a:rPr>
              <a:t>Custos de manutenção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7223760" y="5495400"/>
            <a:ext cx="4160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b6488"/>
                </a:solidFill>
                <a:effectLst/>
                <a:uFillTx/>
                <a:latin typeface="Arial"/>
                <a:ea typeface="Arial"/>
              </a:rPr>
              <a:t>As instituições arcam com hospedagem, servidores e infraestrutura contínua.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-2743200" y="-3200400"/>
            <a:ext cx="7314840" cy="7314840"/>
          </a:xfrm>
          <a:prstGeom prst="ellipse">
            <a:avLst/>
          </a:prstGeom>
          <a:solidFill>
            <a:srgbClr val="6d3bf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8351280" y="3200400"/>
            <a:ext cx="6400440" cy="6400440"/>
          </a:xfrm>
          <a:prstGeom prst="ellipse">
            <a:avLst/>
          </a:prstGeom>
          <a:solidFill>
            <a:srgbClr val="6d3bf5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"/>
          <p:cNvSpPr/>
          <p:nvPr/>
        </p:nvSpPr>
        <p:spPr>
          <a:xfrm flipV="1">
            <a:off x="8946360" y="1124640"/>
            <a:ext cx="1106640" cy="60336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"/>
          <p:cNvSpPr/>
          <p:nvPr/>
        </p:nvSpPr>
        <p:spPr>
          <a:xfrm>
            <a:off x="8955360" y="1099440"/>
            <a:ext cx="1156680" cy="65376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"/>
          <p:cNvSpPr/>
          <p:nvPr/>
        </p:nvSpPr>
        <p:spPr>
          <a:xfrm>
            <a:off x="10067760" y="470880"/>
            <a:ext cx="1257480" cy="70380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5"/>
          <p:cNvSpPr/>
          <p:nvPr/>
        </p:nvSpPr>
        <p:spPr>
          <a:xfrm flipV="1">
            <a:off x="10086480" y="1803600"/>
            <a:ext cx="1207080" cy="55296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"/>
          <p:cNvSpPr/>
          <p:nvPr/>
        </p:nvSpPr>
        <p:spPr>
          <a:xfrm flipH="1">
            <a:off x="10151280" y="1778400"/>
            <a:ext cx="603360" cy="60336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 flipH="1">
            <a:off x="11811960" y="923400"/>
            <a:ext cx="50400" cy="120708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8"/>
          <p:cNvSpPr/>
          <p:nvPr/>
        </p:nvSpPr>
        <p:spPr>
          <a:xfrm flipH="1" flipV="1">
            <a:off x="11183400" y="2708640"/>
            <a:ext cx="1760040" cy="5040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9"/>
          <p:cNvSpPr/>
          <p:nvPr/>
        </p:nvSpPr>
        <p:spPr>
          <a:xfrm>
            <a:off x="9279720" y="797760"/>
            <a:ext cx="553320" cy="1257120"/>
          </a:xfrm>
          <a:prstGeom prst="line">
            <a:avLst/>
          </a:prstGeom>
          <a:ln w="15240">
            <a:solidFill>
              <a:srgbClr val="9b7df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0"/>
          <p:cNvSpPr/>
          <p:nvPr/>
        </p:nvSpPr>
        <p:spPr>
          <a:xfrm>
            <a:off x="8750880" y="1307520"/>
            <a:ext cx="237240" cy="23724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1"/>
          <p:cNvSpPr/>
          <p:nvPr/>
        </p:nvSpPr>
        <p:spPr>
          <a:xfrm>
            <a:off x="9893880" y="740520"/>
            <a:ext cx="164160" cy="16416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2"/>
          <p:cNvSpPr/>
          <p:nvPr/>
        </p:nvSpPr>
        <p:spPr>
          <a:xfrm>
            <a:off x="9907560" y="1961280"/>
            <a:ext cx="237240" cy="23724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3"/>
          <p:cNvSpPr/>
          <p:nvPr/>
        </p:nvSpPr>
        <p:spPr>
          <a:xfrm>
            <a:off x="11151000" y="1444680"/>
            <a:ext cx="164160" cy="16416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4"/>
          <p:cNvSpPr/>
          <p:nvPr/>
        </p:nvSpPr>
        <p:spPr>
          <a:xfrm>
            <a:off x="11064240" y="2615040"/>
            <a:ext cx="237240" cy="23724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5"/>
          <p:cNvSpPr/>
          <p:nvPr/>
        </p:nvSpPr>
        <p:spPr>
          <a:xfrm>
            <a:off x="9340560" y="2601360"/>
            <a:ext cx="164160" cy="164160"/>
          </a:xfrm>
          <a:prstGeom prst="ellipse">
            <a:avLst/>
          </a:prstGeom>
          <a:solidFill>
            <a:srgbClr val="9b7dfb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6"/>
          <p:cNvSpPr/>
          <p:nvPr/>
        </p:nvSpPr>
        <p:spPr>
          <a:xfrm>
            <a:off x="822960" y="2331720"/>
            <a:ext cx="10515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600" b="1" u="none" spc="201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SYNERGIA</a:t>
            </a:r>
            <a:endParaRPr lang="pt-BR" sz="7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7"/>
          <p:cNvSpPr/>
          <p:nvPr/>
        </p:nvSpPr>
        <p:spPr>
          <a:xfrm>
            <a:off x="868680" y="3611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i="1" u="none" strike="noStrike">
                <a:solidFill>
                  <a:srgbClr val="fbbf24"/>
                </a:solidFill>
                <a:effectLst/>
                <a:uFillTx/>
                <a:latin typeface="Georgia"/>
                <a:ea typeface="Georgia"/>
              </a:rPr>
              <a:t>Interdisciplinaridade que transforma a experiência acadêmica.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8"/>
          <p:cNvSpPr/>
          <p:nvPr/>
        </p:nvSpPr>
        <p:spPr>
          <a:xfrm>
            <a:off x="914400" y="4480560"/>
            <a:ext cx="1828800" cy="360"/>
          </a:xfrm>
          <a:prstGeom prst="line">
            <a:avLst/>
          </a:prstGeom>
          <a:ln w="254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9"/>
          <p:cNvSpPr/>
          <p:nvPr/>
        </p:nvSpPr>
        <p:spPr>
          <a:xfrm>
            <a:off x="914400" y="46177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Guilherme Harmatiuk Arantes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9b7dfb"/>
                </a:solidFill>
                <a:effectLst/>
                <a:uFillTx/>
                <a:latin typeface="Arial"/>
                <a:ea typeface="Arial"/>
              </a:rPr>
              <a:t>Fundador &amp; Desenvolvedor  ·  Synergia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0"/>
          <p:cNvSpPr/>
          <p:nvPr/>
        </p:nvSpPr>
        <p:spPr>
          <a:xfrm>
            <a:off x="8351280" y="580644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i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Obrigado!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LibreOffice/25.8.6.2$Windows_X86_64 LibreOffice_project/b4b39682cd9868fa725bc664aff94278d315bd04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2026-07-05T17:58:24Z</dcterms:created>
  <dc:creator>Guilherme Harmatiuk Arantes</dc:creator>
  <dc:description/>
  <dc:language>pt-BR</dc:language>
  <cp:lastModifiedBy/>
  <dcterms:modified xsi:type="dcterms:W3CDTF">2026-07-06T19:58:59Z</dcterms:modified>
  <cp:revision>3</cp:revision>
  <dc:subject>PptxGenJS Presentation</dc:subject>
  <dc:title>Synergia — Pitch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